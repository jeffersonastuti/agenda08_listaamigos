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96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2B"/>
          </a:solidFill>
          <a:ln w="12700">
            <a:solidFill>
              <a:srgbClr val="0B2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B2E2B"/>
          </a:solidFill>
          <a:ln w="12700">
            <a:solidFill>
              <a:srgbClr val="0B2E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71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DESENVOLVIMENTO DE SISTEMAS II • AGENDA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886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 Lista de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Amigos da Gabi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F3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completo + login, sessão, controle de acesso e logout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749808" cy="310896"/>
          </a:xfrm>
          <a:prstGeom prst="roundRect">
            <a:avLst>
              <a:gd name="adj" fmla="val 20588"/>
            </a:avLst>
          </a:prstGeom>
          <a:solidFill>
            <a:srgbClr val="B7E9E3"/>
          </a:solidFill>
          <a:ln w="12700">
            <a:solidFill>
              <a:srgbClr val="B7E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93649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81328" y="3886200"/>
            <a:ext cx="932688" cy="310896"/>
          </a:xfrm>
          <a:prstGeom prst="roundRect">
            <a:avLst>
              <a:gd name="adj" fmla="val 20588"/>
            </a:avLst>
          </a:prstGeom>
          <a:solidFill>
            <a:srgbClr val="B7E9E3"/>
          </a:solidFill>
          <a:ln w="12700">
            <a:solidFill>
              <a:srgbClr val="B7E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93649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3886200"/>
            <a:ext cx="987552" cy="310896"/>
          </a:xfrm>
          <a:prstGeom prst="roundRect">
            <a:avLst>
              <a:gd name="adj" fmla="val 20588"/>
            </a:avLst>
          </a:prstGeom>
          <a:solidFill>
            <a:srgbClr val="B7E9E3"/>
          </a:solidFill>
          <a:ln w="12700">
            <a:solidFill>
              <a:srgbClr val="B7E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393649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B7E9E3"/>
          </a:solidFill>
          <a:ln w="12700">
            <a:solidFill>
              <a:srgbClr val="B7E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36626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56232" y="4315968"/>
            <a:ext cx="859536" cy="310896"/>
          </a:xfrm>
          <a:prstGeom prst="roundRect">
            <a:avLst>
              <a:gd name="adj" fmla="val 20588"/>
            </a:avLst>
          </a:prstGeom>
          <a:solidFill>
            <a:srgbClr val="B7E9E3"/>
          </a:solidFill>
          <a:ln w="12700">
            <a:solidFill>
              <a:srgbClr val="B7E9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9384" y="436626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D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do sistema executado e testado no XAMPP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658368"/>
            <a:ext cx="6748272" cy="5285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5D58"/>
            </a:solidFill>
            <a:prstDash val="solid"/>
          </a:ln>
          <a:effectLst>
            <a:outerShdw blurRad="50800" dist="20320" dir="2700000" algn="bl" rotWithShape="0">
              <a:srgbClr val="000000">
                <a:alpha val="26000"/>
              </a:srgbClr>
            </a:outerShdw>
          </a:effectLst>
        </p:spPr>
      </p:sp>
      <p:pic>
        <p:nvPicPr>
          <p:cNvPr id="19" name="Image 0" descr="/mnt/data/4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55292"/>
            <a:ext cx="6510528" cy="34730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03720" y="5998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E7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 principal após autenticação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6309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AA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foi desenvolvido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projeto reúne o CRUD da Lista de Amigos com os recursos de autenticação estudados na Agenda 08.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5240" dist="889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011680"/>
            <a:ext cx="512064" cy="512064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1122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95681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27685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 e senha são validados no banco de dados.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182880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5240" dist="889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011680"/>
            <a:ext cx="512064" cy="512064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1122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93792" y="195681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93792" y="227685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Após autenticar, $_SESSION['logado'] libera as páginas protegidas.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47304" y="182880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5240" dist="889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11896" y="2011680"/>
            <a:ext cx="512064" cy="51206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21122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70264" y="195681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70264" y="227685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Cadastrar, listar, editar e excluir registros da tabela amigo.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" y="3429000"/>
            <a:ext cx="1207008" cy="566928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60273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92808" y="3593592"/>
            <a:ext cx="292608" cy="246888"/>
          </a:xfrm>
          <a:prstGeom prst="chevron">
            <a:avLst/>
          </a:prstGeom>
          <a:solidFill>
            <a:srgbClr val="AAB8C5"/>
          </a:solidFill>
          <a:ln w="12700">
            <a:solidFill>
              <a:srgbClr val="AAB8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03704" y="3429000"/>
            <a:ext cx="1371600" cy="566928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03704" y="36027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0" y="3593592"/>
            <a:ext cx="292608" cy="246888"/>
          </a:xfrm>
          <a:prstGeom prst="chevron">
            <a:avLst/>
          </a:prstGeom>
          <a:solidFill>
            <a:srgbClr val="AAB8C5"/>
          </a:solidFill>
          <a:ln w="12700">
            <a:solidFill>
              <a:srgbClr val="AAB8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68496" y="3429000"/>
            <a:ext cx="1207008" cy="566928"/>
          </a:xfrm>
          <a:prstGeom prst="round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68496" y="360273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57800" y="3593592"/>
            <a:ext cx="292608" cy="246888"/>
          </a:xfrm>
          <a:prstGeom prst="chevron">
            <a:avLst/>
          </a:prstGeom>
          <a:solidFill>
            <a:srgbClr val="AAB8C5"/>
          </a:solidFill>
          <a:ln w="12700">
            <a:solidFill>
              <a:srgbClr val="AAB8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68696" y="3429000"/>
            <a:ext cx="1207008" cy="566928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360273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0" y="3593592"/>
            <a:ext cx="292608" cy="246888"/>
          </a:xfrm>
          <a:prstGeom prst="chevron">
            <a:avLst/>
          </a:prstGeom>
          <a:solidFill>
            <a:srgbClr val="AAB8C5"/>
          </a:solidFill>
          <a:ln w="12700">
            <a:solidFill>
              <a:srgbClr val="AAB8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68896" y="3429000"/>
            <a:ext cx="1207008" cy="566928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360273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458200" y="3593592"/>
            <a:ext cx="292608" cy="246888"/>
          </a:xfrm>
          <a:prstGeom prst="chevron">
            <a:avLst/>
          </a:prstGeom>
          <a:solidFill>
            <a:srgbClr val="AAB8C5"/>
          </a:solidFill>
          <a:ln w="12700">
            <a:solidFill>
              <a:srgbClr val="AAB8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69096" y="3429000"/>
            <a:ext cx="1207008" cy="566928"/>
          </a:xfrm>
          <a:prstGeom prst="round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69096" y="360273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058400" y="3593592"/>
            <a:ext cx="292608" cy="246888"/>
          </a:xfrm>
          <a:prstGeom prst="chevron">
            <a:avLst/>
          </a:prstGeom>
          <a:solidFill>
            <a:srgbClr val="AAB8C5"/>
          </a:solidFill>
          <a:ln w="12700">
            <a:solidFill>
              <a:srgbClr val="AAB8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69296" y="3429000"/>
            <a:ext cx="1207008" cy="56692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9296" y="360273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LOGOUT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" y="4572000"/>
            <a:ext cx="1100023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773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acadêmico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788920" y="4681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Demonstrar organização de código PHP, integração com MySQL, reutilização de arquivos, autenticação por sessão e as quatro operações do CRUD em um único projeto funcional.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TÉCNICA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Tecnologias e organização do projeto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foi mantida simples e próxima dos exemplos do curso, facilitando manutenção e apresentação.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2651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397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19072"/>
            <a:ext cx="73152" cy="11430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883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 8.x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" y="2249424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do sistema e processamento dos formulários.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3429000" y="1719072"/>
            <a:ext cx="2651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397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719072"/>
            <a:ext cx="73152" cy="1143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883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/ MariaDB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48456" y="2249424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Armazenamento dos usuários e da lista de amigos.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263640" y="1719072"/>
            <a:ext cx="2651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397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719072"/>
            <a:ext cx="73152" cy="1143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1883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83096" y="2249424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 e consultas ao banco de dados.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9098280" y="1719072"/>
            <a:ext cx="2651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397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1719072"/>
            <a:ext cx="73152" cy="114300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1883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W3.CSS + Font Awesome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17736" y="2249424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visual e ícones das telas.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94360" y="324612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Arquivos principais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858768"/>
            <a:ext cx="4983480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index.php e </a:t>
            </a:r>
            <a:r>
              <a:rPr lang="en-US" sz="122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loginAction.php</a:t>
            </a: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 entrada e autenticação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verificarAcesso.php</a:t>
            </a: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 proteção das páginas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principal.php</a:t>
            </a: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 menu principal do sistema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cadastro/listar/editar/</a:t>
            </a:r>
            <a:r>
              <a:rPr lang="en-US" sz="122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excluir</a:t>
            </a: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 operações do CRUD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conexaoBD.php, cabecalho.php e </a:t>
            </a:r>
            <a:r>
              <a:rPr lang="en-US" sz="122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rodape.php</a:t>
            </a: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 reutilização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400800" y="3246120"/>
            <a:ext cx="5193792" cy="237744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3493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Ideia central da modularização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56832" y="393192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vez de repetir a conexão, o cabeçalho e o rodapé em todas as páginas, o projeto importa arquivos comuns com require_once.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56832" y="4736592"/>
            <a:ext cx="4343400" cy="7132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4846320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21424" y="5138928"/>
            <a:ext cx="40142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require_once 'conexaoBD.php';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require_once 'cabecalho.php';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 DE DADOS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Duas tabelas sustentam o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banco pwii separa autenticação dos dados cadastrados na Lista de Amigos.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4709160" cy="3337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A9D8D3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4709160" cy="51206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56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Tabela usuario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idusuario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67712" y="24871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• chave primária • auto incremento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67712" y="30540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VARCHAR(45) • único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960120" y="36210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senha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67712" y="36210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VARCHAR(45)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960120" y="4407408"/>
            <a:ext cx="3566160" cy="384048"/>
          </a:xfrm>
          <a:prstGeom prst="roundRect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517136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 de demonstração: gabi / gabi123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1691640"/>
            <a:ext cx="5074920" cy="3337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7D9F6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691640"/>
            <a:ext cx="5074920" cy="5120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1856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Tabela amigo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20840" y="24048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idamigo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83296" y="24048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• chave primária • auto incremento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6720840" y="28529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83296" y="28529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VARCHAR(60)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6720840" y="33009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sobrenome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83296" y="33009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VARCHAR(60)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6720840" y="37490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83296" y="3749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VARCHAR(20)</a:t>
            </a:r>
            <a:endParaRPr lang="en-US" sz="1110" dirty="0"/>
          </a:p>
        </p:txBody>
      </p:sp>
      <p:sp>
        <p:nvSpPr>
          <p:cNvPr id="27" name="Text 25"/>
          <p:cNvSpPr/>
          <p:nvPr/>
        </p:nvSpPr>
        <p:spPr>
          <a:xfrm>
            <a:off x="6720840" y="41970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083296" y="41970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VARCHAR(120)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5623560" y="2898648"/>
            <a:ext cx="530352" cy="420624"/>
          </a:xfrm>
          <a:prstGeom prst="chevron">
            <a:avLst/>
          </a:prstGeom>
          <a:solidFill>
            <a:srgbClr val="AAB8C5"/>
          </a:solidFill>
          <a:ln w="12700">
            <a:solidFill>
              <a:srgbClr val="AAB8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0" y="5349240"/>
            <a:ext cx="8138160" cy="64008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5513832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Nesta versão didática, as tabelas não possuem chave estrangeira entre si: a sessão controla o acesso e o CRUD atua diretamente sobre a tabela amigo.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Tela de login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sistema começa solicitando as credenciais antes de permitir acesso às páginas protegidas.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63624"/>
            <a:ext cx="7434072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1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68" y="1809972"/>
            <a:ext cx="6675072" cy="35566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632704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 inicial do sistema executado no navegador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321040" y="1600200"/>
            <a:ext cx="3246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77072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acontece aqui?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77072" y="2359152"/>
            <a:ext cx="2578608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Formulário envia usuário e senha por POST.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campo senha usa type="password".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action aponta para loginAction.php.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Nenhuma página do CRUD é liberada antes da sessão.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41080" y="4736592"/>
            <a:ext cx="2240280" cy="310896"/>
          </a:xfrm>
          <a:prstGeom prst="roundRect">
            <a:avLst>
              <a:gd name="adj" fmla="val 2058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14232" y="4786884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segura do fluxo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Autenticação no banco de 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credenciais preenchidas são consultadas na tabela usuario; quando conferem, a sessão é criada.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66344" y="1563624"/>
            <a:ext cx="5513832" cy="2980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2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62" y="1723644"/>
            <a:ext cx="4862298" cy="2587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60857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Credenciais de teste preenchidas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99632" y="1563624"/>
            <a:ext cx="5513832" cy="2980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1" descr="/mnt/data/3 - Lista de amigos da Ga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131" y="1723644"/>
            <a:ext cx="4796833" cy="25559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6208" y="460857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após autenticação bem-sucedida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920240" y="4983480"/>
            <a:ext cx="8229600" cy="1051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084832" y="5093208"/>
            <a:ext cx="7900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principal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084832" y="5385816"/>
            <a:ext cx="79004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$conexao-&gt;prepare('SELECT nome, senha ...');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($usuario['senha'] === $senha)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$_SESSION['logado'] = $usuario['nome'];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Página principal após o login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da autenticação, o usuário entra na área restrita e escolhe a operação que deseja executar.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36192"/>
            <a:ext cx="7708392" cy="4142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4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68" y="1795095"/>
            <a:ext cx="6789164" cy="36217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74243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principal liberada pela sessão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549640" y="1572768"/>
            <a:ext cx="3035808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05672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Opções disponíveis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759952" y="2304288"/>
            <a:ext cx="263347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5240" dist="889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24544" y="2487168"/>
            <a:ext cx="512064" cy="512064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24544" y="258775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82912" y="2432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Cadastrar amigo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582912" y="27523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 a operação Create.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759952" y="3401568"/>
            <a:ext cx="263347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5240" dist="889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924544" y="3584448"/>
            <a:ext cx="512064" cy="512064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24544" y="368503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82912" y="3529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Listar amigos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582912" y="38496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Exibe os registros e ações.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759952" y="4590288"/>
            <a:ext cx="2633472" cy="685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F9C4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0" y="47548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43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Logout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811512" y="47731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 a sessão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ACESSO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Acesso direto pela URL é bloqueado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proteção não depende apenas da tela de login: cada página restrita verifica se a sessão existe.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63624"/>
            <a:ext cx="7068312" cy="3803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5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14" y="1785642"/>
            <a:ext cx="6359760" cy="3372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431536"/>
            <a:ext cx="699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em janela InPrivate sem autenticação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955280" y="1600200"/>
            <a:ext cx="3639312" cy="3730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verificarAcesso.php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211312" y="2331720"/>
            <a:ext cx="3127248" cy="21762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75904" y="244144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Proteção por sessão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375904" y="2734056"/>
            <a:ext cx="2798064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(session_status() === PHP_SESSION_NONE)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session_start();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(!isset($_SESSION['logado']))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header('Location: acessoNegado.php');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0" y="4663440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quem tenta abrir principal.php, cadastro.php, listar.php ou outras páginas sem login é enviado para “Acesso negado”.</a:t>
            </a:r>
            <a:endParaRPr lang="en-US" sz="107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• CREATE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Cadastro de um novo amigo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primeira operação do CRUD insere um novo registro na tabela amigo.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63624"/>
            <a:ext cx="7388352" cy="4050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6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62" y="1757799"/>
            <a:ext cx="6772656" cy="36086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6784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Formulário preenchido para cadastro de João Silva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275320" y="1600200"/>
            <a:ext cx="329184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1874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AF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549640" y="2359152"/>
            <a:ext cx="26060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Nome: João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Sobrenome: Silva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Telefone e e-mail preenchidos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Salvar amigo grava o registro no MySQL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22208" y="4526280"/>
            <a:ext cx="2697480" cy="67665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4636008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0" y="4928616"/>
            <a:ext cx="23682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amigo (...) VALUES (...)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• READ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Listagem dos amigos cadastrados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consulta exibe os registros existentes e disponibiliza as próximas ações.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63624"/>
            <a:ext cx="7434072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7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52" y="1833539"/>
            <a:ext cx="6628709" cy="35361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632704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João Silva aparece na tabela após o cadastro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321040" y="1600200"/>
            <a:ext cx="3246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874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68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595360" y="2359152"/>
            <a:ext cx="2542032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recupera os registros.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mostra código, nome, sobrenome, telefone e e-mail.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linha oferece Editar e Excluir.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 amigo permite iniciar outro cadastro.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8732520" y="4773168"/>
            <a:ext cx="2011680" cy="310896"/>
          </a:xfrm>
          <a:prstGeom prst="roundRect">
            <a:avLst>
              <a:gd name="adj" fmla="val 2058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05672" y="482346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+ navegação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• UPDATE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Alteração dos dados cadastrados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registro existente pode ser editado e salvo novamente sem criar um novo amigo.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63624"/>
            <a:ext cx="7434072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8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68" y="1808173"/>
            <a:ext cx="6639114" cy="35292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632704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confirma que o amigo foi atualizado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321040" y="1600200"/>
            <a:ext cx="3246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96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595360" y="2359152"/>
            <a:ext cx="2542032" cy="1938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botão Editar abre o registro pelo idamigo.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campos atuais são carregados no formulário.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Salvar alterações executa o UPDATE.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listagem volta mostrando o novo valor.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8485632" y="4572000"/>
            <a:ext cx="274320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468172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50224" y="4974336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amigo SET ... WHERE idamigo = ?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• DELETE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Exclusão com confirmação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remover um registro, o navegador pede confirmação. Após a exclusão, a listagem é atualizada.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66344" y="1536192"/>
            <a:ext cx="5650992" cy="3044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9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55" y="1847088"/>
            <a:ext cx="4635905" cy="24672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6451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Confirmação antes de excluir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63056" y="1536192"/>
            <a:ext cx="5559552" cy="3044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1" descr="/mnt/data/10 - Lista de amigos da Ga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647" y="1847088"/>
            <a:ext cx="4506251" cy="24010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9632" y="46451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removido: lista vazia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005840" y="4983480"/>
            <a:ext cx="10195560" cy="896112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F6C3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298448" y="52395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43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578608" y="51297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confirmação evita exclusões acidentais. Quando o usuário aceita, excluir.php remove o registro correspondente pelo identificador.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Logout e retorno ao login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logout remove a variável de sessão e devolve o usuário para a tela inicial.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63624"/>
            <a:ext cx="7434072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11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65" y="1798089"/>
            <a:ext cx="6628709" cy="35361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632704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 de login após encerramento da sessão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321040" y="1600200"/>
            <a:ext cx="3246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do logout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558784" y="2395728"/>
            <a:ext cx="2724912" cy="10241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23376" y="250545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logoutAction.php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23376" y="2798064"/>
            <a:ext cx="239572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unset($_SESSION['logado']);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header('Location: index.php');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49640" y="3703320"/>
            <a:ext cx="2697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5240" dist="889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714232" y="3886200"/>
            <a:ext cx="512064" cy="512064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14232" y="39867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372600" y="3831336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Sessão removida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372600" y="4151376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nome da Gabi deixa de existir em $_SESSION.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549640" y="4736592"/>
            <a:ext cx="2697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5240" dist="889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714232" y="4919472"/>
            <a:ext cx="512064" cy="512064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14232" y="502005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72600" y="486460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exigido novamente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372600" y="51846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entrar, é necessário autenticar outra vez.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FINAL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 sessão, o acesso volta a ser negado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teste depois do logout confirma que o controle de acesso continua funcionando corretamente.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63624"/>
            <a:ext cx="7434072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12 - Lista de amigos da G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40" y="1824546"/>
            <a:ext cx="6632168" cy="35338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632704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Tentativa de acesso a página protegida após sair do sistema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321040" y="1600200"/>
            <a:ext cx="3246120" cy="3931920"/>
          </a:xfrm>
          <a:prstGeom prst="roundRect">
            <a:avLst/>
          </a:prstGeom>
          <a:solidFill>
            <a:srgbClr val="FFF7F6"/>
          </a:solidFill>
          <a:ln w="12700">
            <a:solidFill>
              <a:srgbClr val="F6C3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13648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43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concluído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0" y="2377440"/>
            <a:ext cx="256032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Sessão foi encerrada.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URL protegida foi acessada manualmente.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verificarAcesso.php identificou ausência de login.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foi redirecionado para acessoNegado.php.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8613648" y="4809744"/>
            <a:ext cx="2240280" cy="310896"/>
          </a:xfrm>
          <a:prstGeom prst="roundRect">
            <a:avLst>
              <a:gd name="adj" fmla="val 20588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4860036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43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acesso validado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9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Habilidades demonstradas no projeto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final integra conceitos de programação web, banco de dados, organização do código e segurança básica de acesso.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342900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143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975104"/>
            <a:ext cx="530352" cy="53035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665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90472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completo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0472" y="2322576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Create, Read, Update e Delete funcionando no MySQL.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361688" y="1719072"/>
            <a:ext cx="342900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143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1975104"/>
            <a:ext cx="530352" cy="530352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0665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2322576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de usuário e senha com consulta ao banco.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8129016" y="1719072"/>
            <a:ext cx="342900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143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1975104"/>
            <a:ext cx="530352" cy="53035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0665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25128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Sessões PHP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25128" y="2322576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estado com $_SESSION['logado'].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594360" y="3273552"/>
            <a:ext cx="342900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143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" y="3529584"/>
            <a:ext cx="530352" cy="530352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6210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90472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Proteção de páginas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90472" y="3877056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Redirecionamento de acessos não autenticados.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361688" y="3273552"/>
            <a:ext cx="342900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143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62856" y="3529584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36210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Modularização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57800" y="3877056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Conexão, cabeçalho e rodapé reutilizados com require_once.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8129016" y="3273552"/>
            <a:ext cx="342900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143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3529584"/>
            <a:ext cx="530352" cy="53035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0184" y="36210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25128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prático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25128" y="3877056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executado no XAMPP do início ao fim.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1143000" y="5074920"/>
            <a:ext cx="9893808" cy="841248"/>
          </a:xfrm>
          <a:prstGeom prst="roundRect">
            <a:avLst/>
          </a:prstGeom>
          <a:solidFill>
            <a:srgbClr val="E6F6F3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81328" y="528523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um sistema funcional, organizado e pronto para ser apresentado no GitHub como evidência das competências trabalhadas nas agendas do curso.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21808" y="5980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Fim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08 • Desenvolvimento de Sistemas II</a:t>
            </a:r>
            <a:endParaRPr lang="en-US" sz="9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1369</Words>
  <Application>Microsoft Office PowerPoint</Application>
  <PresentationFormat>Widescreen</PresentationFormat>
  <Paragraphs>256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Projeto acadêmico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Lista de Amigos da Gabi - CRUD + Login</dc:title>
  <dc:subject>Agenda 08 - Desenvolvimento de Sistemas II</dc:subject>
  <dc:creator>OpenAI</dc:creator>
  <cp:lastModifiedBy>Jefferson</cp:lastModifiedBy>
  <cp:revision>11</cp:revision>
  <dcterms:created xsi:type="dcterms:W3CDTF">2026-09-28T12:41:17Z</dcterms:created>
  <dcterms:modified xsi:type="dcterms:W3CDTF">2026-09-28T12:49:51Z</dcterms:modified>
</cp:coreProperties>
</file>